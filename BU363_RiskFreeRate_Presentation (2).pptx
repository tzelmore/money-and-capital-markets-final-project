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guiSyl4rUJI7iyg8V+y2vyVIR0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6058880-4D77-4FB2-BE1E-C1218C037AF9}">
  <a:tblStyle styleId="{F6058880-4D77-4FB2-BE1E-C1218C037AF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35"/>
  </p:normalViewPr>
  <p:slideViewPr>
    <p:cSldViewPr snapToGrid="0">
      <p:cViewPr varScale="1">
        <p:scale>
          <a:sx n="153" d="100"/>
          <a:sy n="153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Nominal 10-yr (DGS10)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0.89</c:v>
                </c:pt>
                <c:pt idx="1">
                  <c:v>1.45</c:v>
                </c:pt>
                <c:pt idx="2">
                  <c:v>2.95</c:v>
                </c:pt>
                <c:pt idx="3">
                  <c:v>3.96</c:v>
                </c:pt>
                <c:pt idx="4">
                  <c:v>4.2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12E-0F40-AD68-F77D2203F3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 TIPS (DFII10)</c:v>
                </c:pt>
              </c:strCache>
            </c:strRef>
          </c:tx>
          <c:spPr>
            <a:ln w="31750" cap="flat">
              <a:solidFill>
                <a:srgbClr val="E8C54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C547"/>
              </a:solidFill>
              <a:ln w="9525" cap="flat">
                <a:solidFill>
                  <a:srgbClr val="E8C547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-0.97</c:v>
                </c:pt>
                <c:pt idx="1">
                  <c:v>-1.04</c:v>
                </c:pt>
                <c:pt idx="2">
                  <c:v>0.53</c:v>
                </c:pt>
                <c:pt idx="3">
                  <c:v>1.84</c:v>
                </c:pt>
                <c:pt idx="4">
                  <c:v>2.1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12E-0F40-AD68-F77D2203F3E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Breakeven Inflation</c:v>
                </c:pt>
              </c:strCache>
            </c:strRef>
          </c:tx>
          <c:spPr>
            <a:ln w="31750" cap="flat">
              <a:solidFill>
                <a:srgbClr val="7B93D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B93D0"/>
              </a:solidFill>
              <a:ln w="9525" cap="flat">
                <a:solidFill>
                  <a:srgbClr val="7B93D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1.86</c:v>
                </c:pt>
                <c:pt idx="1">
                  <c:v>2.4900000000000002</c:v>
                </c:pt>
                <c:pt idx="2">
                  <c:v>2.42</c:v>
                </c:pt>
                <c:pt idx="3">
                  <c:v>2.12</c:v>
                </c:pt>
                <c:pt idx="4">
                  <c:v>2.1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312E-0F40-AD68-F77D2203F3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-2"/>
        </c:scaling>
        <c:delete val="0"/>
        <c:axPos val="l"/>
        <c:majorGridlines>
          <c:spPr>
            <a:ln w="6350" cap="flat">
              <a:solidFill>
                <a:srgbClr val="D0D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EEF3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24" name="Google Shape;24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47" name="Google Shape;47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6949440" y="-1097280"/>
            <a:ext cx="3657600" cy="3657600"/>
          </a:xfrm>
          <a:prstGeom prst="ellipse">
            <a:avLst/>
          </a:prstGeom>
          <a:solidFill>
            <a:srgbClr val="2E3F7A"/>
          </a:solidFill>
          <a:ln w="12700" cap="flat" cmpd="sng">
            <a:solidFill>
              <a:srgbClr val="2E3F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7498080" y="-548640"/>
            <a:ext cx="2377440" cy="2377440"/>
          </a:xfrm>
          <a:prstGeom prst="ellipse">
            <a:avLst/>
          </a:prstGeom>
          <a:solidFill>
            <a:srgbClr val="253180"/>
          </a:solidFill>
          <a:ln w="12700" cap="flat" cmpd="sng">
            <a:solidFill>
              <a:srgbClr val="2531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2E3F7A"/>
          </a:solidFill>
          <a:ln w="12700" cap="flat" cmpd="sng">
            <a:solidFill>
              <a:srgbClr val="2E3F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02920" y="1417320"/>
            <a:ext cx="118872" cy="1691640"/>
          </a:xfrm>
          <a:prstGeom prst="rect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749808" y="1188720"/>
            <a:ext cx="713232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lang="en-US" sz="38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Determinants of the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lang="en-US" sz="38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Risk-Free Rate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749808" y="2670048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lang="en-US" sz="1500" i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Macroeconomic Forces &amp; the Nominal vs. Real Rate Divide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02920" y="3310128"/>
            <a:ext cx="8138160" cy="1298448"/>
          </a:xfrm>
          <a:prstGeom prst="rect">
            <a:avLst/>
          </a:prstGeom>
          <a:solidFill>
            <a:srgbClr val="2E3F7A"/>
          </a:solidFill>
          <a:ln w="12700" cap="flat" cmpd="sng">
            <a:solidFill>
              <a:srgbClr val="2E3F7A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94360" y="3401568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Tiffany Zelmore  ·  Ian Patz  ·  Darius Patterson  ·  Austyn Winkleblech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94360" y="3858768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BU 363 01: Money and Capital Markets  ·  Seton Hill University  ·  May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502920" y="91440"/>
            <a:ext cx="77724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Topic &amp; Motivation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" y="1051560"/>
            <a:ext cx="8229600" cy="80467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1170432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"/>
          <p:cNvSpPr/>
          <p:nvPr/>
        </p:nvSpPr>
        <p:spPr>
          <a:xfrm>
            <a:off x="1143000" y="1115568"/>
            <a:ext cx="7406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Research Question: </a:t>
            </a:r>
            <a:r>
              <a:rPr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macroeconomic forces drive the risk-free rate, and how do nominal vs. real rates compare over time?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75488" y="2011680"/>
            <a:ext cx="256032" cy="256032"/>
          </a:xfrm>
          <a:prstGeom prst="ellipse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841248" y="1975104"/>
            <a:ext cx="3703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Risk-free rate = the foundation of ALL financial markets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75488" y="2816352"/>
            <a:ext cx="256032" cy="256032"/>
          </a:xfrm>
          <a:prstGeom prst="ellipse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41248" y="2779776"/>
            <a:ext cx="3703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U.S. Treasury bills are the standard proxy — backed by the government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75488" y="3621024"/>
            <a:ext cx="256032" cy="256032"/>
          </a:xfrm>
          <a:prstGeom prst="ellipse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41248" y="3584448"/>
            <a:ext cx="3703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Anchors corporate borrowing costs, mortgage rates &amp; equity valuations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828032" y="2011680"/>
            <a:ext cx="256032" cy="256032"/>
          </a:xfrm>
          <a:prstGeom prst="ellipse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193792" y="1975104"/>
            <a:ext cx="376732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Fed raised rates 525 bps (2022–23) — highest inflation in 40 years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828032" y="2816352"/>
            <a:ext cx="256032" cy="256032"/>
          </a:xfrm>
          <a:prstGeom prst="ellipse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193792" y="2779776"/>
            <a:ext cx="376732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10-yr Treasury hit 4.80% in Oct 2023 — a 16-year high (CNBC, 2023)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828032" y="3621024"/>
            <a:ext cx="256032" cy="256032"/>
          </a:xfrm>
          <a:prstGeom prst="ellipse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193792" y="3584448"/>
            <a:ext cx="376732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TIPS data: real rates swung from −0.97% (2020) to +2.10% (2024)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A9A"/>
              </a:buClr>
              <a:buSzPts val="850"/>
              <a:buFont typeface="Calibri"/>
              <a:buNone/>
            </a:pPr>
            <a:r>
              <a:rPr lang="en-US" sz="850" i="1">
                <a:solidFill>
                  <a:srgbClr val="5A6A9A"/>
                </a:solidFill>
                <a:latin typeface="Calibri"/>
                <a:ea typeface="Calibri"/>
                <a:cs typeface="Calibri"/>
                <a:sym typeface="Calibri"/>
              </a:rPr>
              <a:t>Sources: Congressional Research Service (2024); CNBC, Min &amp; Kiderlin (2023); FRED (n.d.)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F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Key Concepts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365760" y="960120"/>
            <a:ext cx="4041648" cy="3840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365760" y="960120"/>
            <a:ext cx="4041648" cy="64008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00584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"/>
          <p:cNvSpPr/>
          <p:nvPr/>
        </p:nvSpPr>
        <p:spPr>
          <a:xfrm>
            <a:off x="960120" y="1005840"/>
            <a:ext cx="3337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Loanable Funds Theory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02920" y="1719072"/>
            <a:ext cx="54864" cy="256032"/>
          </a:xfrm>
          <a:prstGeom prst="rect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58368" y="1682496"/>
            <a:ext cx="36210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Supply &amp; Demand for funds — </a:t>
            </a:r>
            <a:r>
              <a:rPr lang="en-US" sz="10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Equilibrium sets the real interest rate (Saunders et al., 2024)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02920" y="2450592"/>
            <a:ext cx="54864" cy="256032"/>
          </a:xfrm>
          <a:prstGeom prst="rect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58368" y="2414016"/>
            <a:ext cx="36210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Households save more — </a:t>
            </a:r>
            <a:r>
              <a:rPr lang="en-US" sz="10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Supply rises → real rates fall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02920" y="3182112"/>
            <a:ext cx="54864" cy="256032"/>
          </a:xfrm>
          <a:prstGeom prst="rect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58368" y="3145536"/>
            <a:ext cx="36210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Investment demand rises — </a:t>
            </a:r>
            <a:r>
              <a:rPr lang="en-US" sz="10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Supply shrinks → real rates rise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02920" y="3913632"/>
            <a:ext cx="54864" cy="256032"/>
          </a:xfrm>
          <a:prstGeom prst="rect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58368" y="3877056"/>
            <a:ext cx="36210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Gov't borrowing competes — </a:t>
            </a:r>
            <a:r>
              <a:rPr lang="en-US" sz="10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Crowds out private investment, pushes rates up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736592" y="960120"/>
            <a:ext cx="4041648" cy="3840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736592" y="960120"/>
            <a:ext cx="4041648" cy="640080"/>
          </a:xfrm>
          <a:prstGeom prst="rect">
            <a:avLst/>
          </a:prstGeom>
          <a:solidFill>
            <a:srgbClr val="2E3F7A"/>
          </a:solidFill>
          <a:ln w="12700" cap="flat" cmpd="sng">
            <a:solidFill>
              <a:srgbClr val="2E3F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28032" y="100584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/>
          <p:nvPr/>
        </p:nvSpPr>
        <p:spPr>
          <a:xfrm>
            <a:off x="5321808" y="1005840"/>
            <a:ext cx="3337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Fisher Equation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892040" y="1719072"/>
            <a:ext cx="3730752" cy="658368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892040" y="1719072"/>
            <a:ext cx="373075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C547"/>
              </a:buClr>
              <a:buSzPts val="2200"/>
              <a:buFont typeface="Cambria"/>
              <a:buNone/>
            </a:pPr>
            <a:r>
              <a:rPr lang="en-US" sz="2200" b="1">
                <a:solidFill>
                  <a:srgbClr val="E8C547"/>
                </a:solidFill>
                <a:latin typeface="Cambria"/>
                <a:ea typeface="Cambria"/>
                <a:cs typeface="Cambria"/>
                <a:sym typeface="Cambria"/>
              </a:rPr>
              <a:t>i  =  r  +  πᵉ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892040" y="2423160"/>
            <a:ext cx="37307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A9A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5A6A9A"/>
                </a:solidFill>
                <a:latin typeface="Calibri"/>
                <a:ea typeface="Calibri"/>
                <a:cs typeface="Calibri"/>
                <a:sym typeface="Calibri"/>
              </a:rPr>
              <a:t>Nominal rate  =  Real rate  +  Expected inflation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873752" y="2880360"/>
            <a:ext cx="54864" cy="256032"/>
          </a:xfrm>
          <a:prstGeom prst="rect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029200" y="2843784"/>
            <a:ext cx="36301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Lenders need compensation — </a:t>
            </a:r>
            <a:r>
              <a:rPr lang="en-US" sz="10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for both time value AND lost purchasing power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873752" y="3538728"/>
            <a:ext cx="54864" cy="256032"/>
          </a:xfrm>
          <a:prstGeom prst="rect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029200" y="3502152"/>
            <a:ext cx="36301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TIPS breakeven — </a:t>
            </a:r>
            <a:r>
              <a:rPr lang="en-US" sz="10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Nominal yield − TIPS yield = market inflation expectation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873752" y="4197096"/>
            <a:ext cx="54864" cy="256032"/>
          </a:xfrm>
          <a:prstGeom prst="rect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029200" y="4160520"/>
            <a:ext cx="36301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TIPS launched Jan 1997 — </a:t>
            </a:r>
            <a:r>
              <a:rPr lang="en-US" sz="10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First tool to observe real rate in real time (TreasuryDirect)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 Macroeconomic Determinants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4"/>
          <p:cNvCxnSpPr/>
          <p:nvPr/>
        </p:nvCxnSpPr>
        <p:spPr>
          <a:xfrm>
            <a:off x="457200" y="804672"/>
            <a:ext cx="8229600" cy="0"/>
          </a:xfrm>
          <a:prstGeom prst="straightConnector1">
            <a:avLst/>
          </a:prstGeom>
          <a:noFill/>
          <a:ln w="1905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" name="Google Shape;83;p4"/>
          <p:cNvSpPr/>
          <p:nvPr/>
        </p:nvSpPr>
        <p:spPr>
          <a:xfrm>
            <a:off x="347472" y="960120"/>
            <a:ext cx="4041648" cy="1783080"/>
          </a:xfrm>
          <a:prstGeom prst="rect">
            <a:avLst/>
          </a:prstGeom>
          <a:solidFill>
            <a:srgbClr val="2E3F7A"/>
          </a:solidFill>
          <a:ln w="12700" cap="flat" cmpd="sng">
            <a:solidFill>
              <a:srgbClr val="3A4A8A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347472" y="960120"/>
            <a:ext cx="548640" cy="1783080"/>
          </a:xfrm>
          <a:prstGeom prst="rect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347472" y="1527048"/>
            <a:ext cx="5486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lang="en-US" sz="17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5840" y="10332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/>
          <p:nvPr/>
        </p:nvSpPr>
        <p:spPr>
          <a:xfrm>
            <a:off x="1005840" y="1417320"/>
            <a:ext cx="327355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C547"/>
              </a:buClr>
              <a:buSzPts val="1250"/>
              <a:buFont typeface="Cambria"/>
              <a:buNone/>
            </a:pPr>
            <a:r>
              <a:rPr lang="en-US" sz="1250" b="1">
                <a:solidFill>
                  <a:srgbClr val="E8C547"/>
                </a:solidFill>
                <a:latin typeface="Cambria"/>
                <a:ea typeface="Cambria"/>
                <a:cs typeface="Cambria"/>
                <a:sym typeface="Cambria"/>
              </a:rPr>
              <a:t>Inflation &amp; Expectations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1005840" y="1828800"/>
            <a:ext cx="3273552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CPI peaked 9.1% in June 2022. Nominal rates must compensate for expected purchasing-power loss — the single most immediate driver of rate moves.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736592" y="960120"/>
            <a:ext cx="4041648" cy="1783080"/>
          </a:xfrm>
          <a:prstGeom prst="rect">
            <a:avLst/>
          </a:prstGeom>
          <a:solidFill>
            <a:srgbClr val="2E3F7A"/>
          </a:solidFill>
          <a:ln w="12700" cap="flat" cmpd="sng">
            <a:solidFill>
              <a:srgbClr val="3A4A8A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736592" y="960120"/>
            <a:ext cx="548640" cy="1783080"/>
          </a:xfrm>
          <a:prstGeom prst="rect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736592" y="1527048"/>
            <a:ext cx="5486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lang="en-US" sz="17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4960" y="10332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5394960" y="1417320"/>
            <a:ext cx="327355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C547"/>
              </a:buClr>
              <a:buSzPts val="1250"/>
              <a:buFont typeface="Cambria"/>
              <a:buNone/>
            </a:pPr>
            <a:r>
              <a:rPr lang="en-US" sz="1250" b="1">
                <a:solidFill>
                  <a:srgbClr val="E8C547"/>
                </a:solidFill>
                <a:latin typeface="Cambria"/>
                <a:ea typeface="Cambria"/>
                <a:cs typeface="Cambria"/>
                <a:sym typeface="Cambria"/>
              </a:rPr>
              <a:t>Real Growth &amp; Productivity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394960" y="1828800"/>
            <a:ext cx="3273552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Higher-productivity economy raises investment returns → demand for loanable funds rises → real rates rise. Secular stagnation suppressed r* through the 2010s.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47472" y="2907792"/>
            <a:ext cx="4041648" cy="1783080"/>
          </a:xfrm>
          <a:prstGeom prst="rect">
            <a:avLst/>
          </a:prstGeom>
          <a:solidFill>
            <a:srgbClr val="2E3F7A"/>
          </a:solidFill>
          <a:ln w="12700" cap="flat" cmpd="sng">
            <a:solidFill>
              <a:srgbClr val="3A4A8A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347472" y="2907792"/>
            <a:ext cx="548640" cy="1783080"/>
          </a:xfrm>
          <a:prstGeom prst="rect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47472" y="3474720"/>
            <a:ext cx="5486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lang="en-US" sz="17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5840" y="298094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"/>
          <p:cNvSpPr/>
          <p:nvPr/>
        </p:nvSpPr>
        <p:spPr>
          <a:xfrm>
            <a:off x="1005840" y="3364992"/>
            <a:ext cx="327355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C547"/>
              </a:buClr>
              <a:buSzPts val="1250"/>
              <a:buFont typeface="Cambria"/>
              <a:buNone/>
            </a:pPr>
            <a:r>
              <a:rPr lang="en-US" sz="1250" b="1">
                <a:solidFill>
                  <a:srgbClr val="E8C547"/>
                </a:solidFill>
                <a:latin typeface="Cambria"/>
                <a:ea typeface="Cambria"/>
                <a:cs typeface="Cambria"/>
                <a:sym typeface="Cambria"/>
              </a:rPr>
              <a:t>Monetary Policy (the Fed)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1005840" y="3776472"/>
            <a:ext cx="3273552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FOMC raised 525 bps (2022–23), then cut 175 bps (2024–25). Direct control over short-term nominal rates ripples across the entire yield curve.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736592" y="2907792"/>
            <a:ext cx="4041648" cy="1783080"/>
          </a:xfrm>
          <a:prstGeom prst="rect">
            <a:avLst/>
          </a:prstGeom>
          <a:solidFill>
            <a:srgbClr val="2E3F7A"/>
          </a:solidFill>
          <a:ln w="12700" cap="flat" cmpd="sng">
            <a:solidFill>
              <a:srgbClr val="3A4A8A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736592" y="2907792"/>
            <a:ext cx="548640" cy="1783080"/>
          </a:xfrm>
          <a:prstGeom prst="rect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736592" y="3474720"/>
            <a:ext cx="5486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lang="en-US" sz="17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94960" y="298094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/>
          <p:nvPr/>
        </p:nvSpPr>
        <p:spPr>
          <a:xfrm>
            <a:off x="5394960" y="3364992"/>
            <a:ext cx="327355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C547"/>
              </a:buClr>
              <a:buSzPts val="1250"/>
              <a:buFont typeface="Cambria"/>
              <a:buNone/>
            </a:pPr>
            <a:r>
              <a:rPr lang="en-US" sz="1250" b="1">
                <a:solidFill>
                  <a:srgbClr val="E8C547"/>
                </a:solidFill>
                <a:latin typeface="Cambria"/>
                <a:ea typeface="Cambria"/>
                <a:cs typeface="Cambria"/>
                <a:sym typeface="Cambria"/>
              </a:rPr>
              <a:t>Global Savings &amp; Capital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394960" y="3776472"/>
            <a:ext cx="3273552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Global savings glut (China, Germany, oil exporters) compressed U.S. real rates in the 2000s–2010s well below what domestic fundamentals implied.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57200" y="91440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Main Findings: Nominal vs. Real Rates (2020–2024)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4" name="Google Shape;114;p5"/>
          <p:cNvGraphicFramePr/>
          <p:nvPr/>
        </p:nvGraphicFramePr>
        <p:xfrm>
          <a:off x="347472" y="1024128"/>
          <a:ext cx="5166360" cy="3401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5" name="Google Shape;115;p5"/>
          <p:cNvGraphicFramePr/>
          <p:nvPr/>
        </p:nvGraphicFramePr>
        <p:xfrm>
          <a:off x="5669280" y="1078992"/>
          <a:ext cx="3301000" cy="2395800"/>
        </p:xfrm>
        <a:graphic>
          <a:graphicData uri="http://schemas.openxmlformats.org/drawingml/2006/table">
            <a:tbl>
              <a:tblPr>
                <a:noFill/>
                <a:tableStyleId>{F6058880-4D77-4FB2-BE1E-C1218C037AF9}</a:tableStyleId>
              </a:tblPr>
              <a:tblGrid>
                <a:gridCol w="64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6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9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Year</a:t>
                      </a:r>
                      <a:endParaRPr sz="10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Nominal</a:t>
                      </a:r>
                      <a:endParaRPr sz="10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Real TIPS</a:t>
                      </a:r>
                      <a:endParaRPr sz="10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Breakeven</a:t>
                      </a:r>
                      <a:endParaRPr sz="10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2020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0.89%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−0.97%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1.86%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2021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1.45%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−1.04%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2.49%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2022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2.95%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0.53%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2.42%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2023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3.96%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1.84%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2.12%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4.20%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2.10%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2.10%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6" name="Google Shape;116;p5"/>
          <p:cNvSpPr/>
          <p:nvPr/>
        </p:nvSpPr>
        <p:spPr>
          <a:xfrm>
            <a:off x="5669280" y="3547872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A9A"/>
              </a:buClr>
              <a:buSzPts val="800"/>
              <a:buFont typeface="Calibri"/>
              <a:buNone/>
            </a:pPr>
            <a:r>
              <a:rPr lang="en-US" sz="800" i="1">
                <a:solidFill>
                  <a:srgbClr val="5A6A9A"/>
                </a:solidFill>
                <a:latin typeface="Calibri"/>
                <a:ea typeface="Calibri"/>
                <a:cs typeface="Calibri"/>
                <a:sym typeface="Calibri"/>
              </a:rPr>
              <a:t>Source: FRED (DGS10, DFII10); U.S. Dept. of the Treasury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669280" y="3858768"/>
            <a:ext cx="3291840" cy="338328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742432" y="3877056"/>
            <a:ext cx="3145536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2020–21: </a:t>
            </a:r>
            <a:r>
              <a:rPr lang="en-US" sz="9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Real rates were deeply NEGATIVE — emergency Fed accommodation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669280" y="4251960"/>
            <a:ext cx="3291840" cy="338328"/>
          </a:xfrm>
          <a:prstGeom prst="rect">
            <a:avLst/>
          </a:prstGeom>
          <a:solidFill>
            <a:srgbClr val="EEF3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742432" y="4270248"/>
            <a:ext cx="3145536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2022–24: </a:t>
            </a:r>
            <a:r>
              <a:rPr lang="en-US" sz="9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Both nominal &amp; real rates surged — actual borrowing costs tightened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669280" y="4645152"/>
            <a:ext cx="3291840" cy="338328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742432" y="4663440"/>
            <a:ext cx="3145536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Breakeven: </a:t>
            </a:r>
            <a:r>
              <a:rPr lang="en-US" sz="9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Stayed anchored 2.1–2.5% — Fed credibility held throughout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57200" y="91440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Implications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347472" y="1024128"/>
            <a:ext cx="2834640" cy="3858768"/>
          </a:xfrm>
          <a:prstGeom prst="rect">
            <a:avLst/>
          </a:prstGeom>
          <a:solidFill>
            <a:srgbClr val="EEF3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347472" y="1024128"/>
            <a:ext cx="2834640" cy="658368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912" y="107899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/>
          <p:nvPr/>
        </p:nvSpPr>
        <p:spPr>
          <a:xfrm>
            <a:off x="914400" y="1088136"/>
            <a:ext cx="21762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Investors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512064" y="1828800"/>
            <a:ext cx="201168" cy="201168"/>
          </a:xfrm>
          <a:prstGeom prst="ellipse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804672" y="1783080"/>
            <a:ext cx="226771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Low rates (2020–21) forced investors into riskier assets — stocks, real estate, startups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12064" y="2788920"/>
            <a:ext cx="201168" cy="201168"/>
          </a:xfrm>
          <a:prstGeom prst="ellipse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04672" y="2743200"/>
            <a:ext cx="226771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High rates (2024) made Treasuries pay 4–5% guaranteed, making stocks less attractive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512064" y="3749040"/>
            <a:ext cx="201168" cy="201168"/>
          </a:xfrm>
          <a:prstGeom prst="ellipse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804672" y="3703320"/>
            <a:ext cx="226771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Rising discount rates compressed equity valuations, especially high-growth tech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3246120" y="1024128"/>
            <a:ext cx="2834640" cy="3858768"/>
          </a:xfrm>
          <a:prstGeom prst="rect">
            <a:avLst/>
          </a:prstGeom>
          <a:solidFill>
            <a:srgbClr val="EEF3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3246120" y="1024128"/>
            <a:ext cx="2834640" cy="658368"/>
          </a:xfrm>
          <a:prstGeom prst="rect">
            <a:avLst/>
          </a:prstGeom>
          <a:solidFill>
            <a:srgbClr val="2E3F7A"/>
          </a:solidFill>
          <a:ln w="12700" cap="flat" cmpd="sng">
            <a:solidFill>
              <a:srgbClr val="2E3F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37560" y="107899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/>
          <p:nvPr/>
        </p:nvSpPr>
        <p:spPr>
          <a:xfrm>
            <a:off x="3813048" y="1088136"/>
            <a:ext cx="21762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Banks &amp; Institutions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3410712" y="1828800"/>
            <a:ext cx="201168" cy="201168"/>
          </a:xfrm>
          <a:prstGeom prst="ellipse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3703320" y="1783080"/>
            <a:ext cx="226771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Rapid rate rise (2022–23) exposed duration risk — old 1% bonds lost value vs. new 4% bonds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3410712" y="2788920"/>
            <a:ext cx="201168" cy="201168"/>
          </a:xfrm>
          <a:prstGeom prst="ellipse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3703320" y="2743200"/>
            <a:ext cx="226771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SVB &amp; Signature Bank failures (Mar 2023) from mark-to-market losses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3410712" y="3749040"/>
            <a:ext cx="201168" cy="201168"/>
          </a:xfrm>
          <a:prstGeom prst="ellipse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3703320" y="3703320"/>
            <a:ext cx="226771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Banks forced to raise deposit rates to keep customers — squeezed profits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6144768" y="1024128"/>
            <a:ext cx="2834640" cy="3858768"/>
          </a:xfrm>
          <a:prstGeom prst="rect">
            <a:avLst/>
          </a:prstGeom>
          <a:solidFill>
            <a:srgbClr val="EEF3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6144768" y="1024128"/>
            <a:ext cx="2834640" cy="658368"/>
          </a:xfrm>
          <a:prstGeom prst="rect">
            <a:avLst/>
          </a:prstGeom>
          <a:solidFill>
            <a:srgbClr val="374B8A"/>
          </a:solidFill>
          <a:ln w="12700" cap="flat" cmpd="sng">
            <a:solidFill>
              <a:srgbClr val="374B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6208" y="107899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6711696" y="1088136"/>
            <a:ext cx="21762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Policymakers (Fed)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6309360" y="1828800"/>
            <a:ext cx="201168" cy="201168"/>
          </a:xfrm>
          <a:prstGeom prst="ellipse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601968" y="1783080"/>
            <a:ext cx="226771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525 bps hike (2022–23) to tame 40-yr inflation high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6309360" y="2788920"/>
            <a:ext cx="201168" cy="201168"/>
          </a:xfrm>
          <a:prstGeom prst="ellipse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601968" y="2743200"/>
            <a:ext cx="226771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175 bps in cuts (2024–25) as core PCE fell toward 3%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6309360" y="3749040"/>
            <a:ext cx="201168" cy="201168"/>
          </a:xfrm>
          <a:prstGeom prst="ellipse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601968" y="3703320"/>
            <a:ext cx="226771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April 2026 pause: energy price spike forced the Fed to hold — the target rate is a moving target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A9A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5A6A9A"/>
                </a:solidFill>
                <a:latin typeface="Calibri"/>
                <a:ea typeface="Calibri"/>
                <a:cs typeface="Calibri"/>
                <a:sym typeface="Calibri"/>
              </a:rPr>
              <a:t>The "soft landing" of 2024–25 — avoiding recession despite 525 bps of hikes — was rare and counterintuitive.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/>
          <p:nvPr/>
        </p:nvSpPr>
        <p:spPr>
          <a:xfrm>
            <a:off x="-914400" y="3200400"/>
            <a:ext cx="4114800" cy="4114800"/>
          </a:xfrm>
          <a:prstGeom prst="ellipse">
            <a:avLst/>
          </a:prstGeom>
          <a:solidFill>
            <a:srgbClr val="2E3F7A"/>
          </a:solidFill>
          <a:ln w="12700" cap="flat" cmpd="sng">
            <a:solidFill>
              <a:srgbClr val="2E3F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253180"/>
          </a:solidFill>
          <a:ln w="12700" cap="flat" cmpd="sng">
            <a:solidFill>
              <a:srgbClr val="2531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502920" y="274320"/>
            <a:ext cx="118872" cy="822960"/>
          </a:xfrm>
          <a:prstGeom prst="rect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749808" y="201168"/>
            <a:ext cx="73152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32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57200" y="1078992"/>
            <a:ext cx="8229600" cy="658368"/>
          </a:xfrm>
          <a:prstGeom prst="rect">
            <a:avLst/>
          </a:prstGeom>
          <a:solidFill>
            <a:srgbClr val="2E3F7A"/>
          </a:solidFill>
          <a:ln w="12700" cap="flat" cmpd="sng">
            <a:solidFill>
              <a:srgbClr val="3A4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57200" y="1078992"/>
            <a:ext cx="502920" cy="658368"/>
          </a:xfrm>
          <a:prstGeom prst="rect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2064" y="111556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/>
          <p:nvPr/>
        </p:nvSpPr>
        <p:spPr>
          <a:xfrm>
            <a:off x="1051560" y="1152144"/>
            <a:ext cx="751636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C547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E8C547"/>
                </a:solidFill>
                <a:latin typeface="Calibri"/>
                <a:ea typeface="Calibri"/>
                <a:cs typeface="Calibri"/>
                <a:sym typeface="Calibri"/>
              </a:rPr>
              <a:t>Risk-free rate is dynamic — </a:t>
            </a: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Driven by inflation expectations, monetary policy, real growth &amp; global capital flows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57200" y="1828800"/>
            <a:ext cx="8229600" cy="658368"/>
          </a:xfrm>
          <a:prstGeom prst="rect">
            <a:avLst/>
          </a:prstGeom>
          <a:solidFill>
            <a:srgbClr val="2E3F7A"/>
          </a:solidFill>
          <a:ln w="12700" cap="flat" cmpd="sng">
            <a:solidFill>
              <a:srgbClr val="3A4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57200" y="1828800"/>
            <a:ext cx="502920" cy="658368"/>
          </a:xfrm>
          <a:prstGeom prst="rect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064" y="18653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/>
          <p:nvPr/>
        </p:nvSpPr>
        <p:spPr>
          <a:xfrm>
            <a:off x="1051560" y="1901952"/>
            <a:ext cx="751636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C547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E8C547"/>
                </a:solidFill>
                <a:latin typeface="Calibri"/>
                <a:ea typeface="Calibri"/>
                <a:cs typeface="Calibri"/>
                <a:sym typeface="Calibri"/>
              </a:rPr>
              <a:t>Fisher Eq. &amp; Loanable Funds — </a:t>
            </a: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Provide the theoretical bridge between nominal rates, real rates, and inflation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57200" y="2578608"/>
            <a:ext cx="8229600" cy="658368"/>
          </a:xfrm>
          <a:prstGeom prst="rect">
            <a:avLst/>
          </a:prstGeom>
          <a:solidFill>
            <a:srgbClr val="2E3F7A"/>
          </a:solidFill>
          <a:ln w="12700" cap="flat" cmpd="sng">
            <a:solidFill>
              <a:srgbClr val="3A4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57200" y="2578608"/>
            <a:ext cx="502920" cy="658368"/>
          </a:xfrm>
          <a:prstGeom prst="rect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2064" y="261518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7"/>
          <p:cNvSpPr/>
          <p:nvPr/>
        </p:nvSpPr>
        <p:spPr>
          <a:xfrm>
            <a:off x="1051560" y="2651760"/>
            <a:ext cx="751636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C547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E8C547"/>
                </a:solidFill>
                <a:latin typeface="Calibri"/>
                <a:ea typeface="Calibri"/>
                <a:cs typeface="Calibri"/>
                <a:sym typeface="Calibri"/>
              </a:rPr>
              <a:t>2020–2024 cycle — </a:t>
            </a: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Real rates swung from −1% to +2.1% — one of the most instructive episodes in recent history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457200" y="3328416"/>
            <a:ext cx="8229600" cy="658368"/>
          </a:xfrm>
          <a:prstGeom prst="rect">
            <a:avLst/>
          </a:prstGeom>
          <a:solidFill>
            <a:srgbClr val="2E3F7A"/>
          </a:solidFill>
          <a:ln w="12700" cap="flat" cmpd="sng">
            <a:solidFill>
              <a:srgbClr val="3A4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57200" y="3328416"/>
            <a:ext cx="502920" cy="658368"/>
          </a:xfrm>
          <a:prstGeom prst="rect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2064" y="336499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7"/>
          <p:cNvSpPr/>
          <p:nvPr/>
        </p:nvSpPr>
        <p:spPr>
          <a:xfrm>
            <a:off x="1051560" y="3401568"/>
            <a:ext cx="751636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C547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E8C547"/>
                </a:solidFill>
                <a:latin typeface="Calibri"/>
                <a:ea typeface="Calibri"/>
                <a:cs typeface="Calibri"/>
                <a:sym typeface="Calibri"/>
              </a:rPr>
              <a:t>Breakeven inflation stayed ~2.1% — </a:t>
            </a: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Signaling the Fed's credibility held despite historic volatility throughout the cycle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57200" y="4078224"/>
            <a:ext cx="8229600" cy="658368"/>
          </a:xfrm>
          <a:prstGeom prst="rect">
            <a:avLst/>
          </a:prstGeom>
          <a:solidFill>
            <a:srgbClr val="2E3F7A"/>
          </a:solidFill>
          <a:ln w="12700" cap="flat" cmpd="sng">
            <a:solidFill>
              <a:srgbClr val="3A4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57200" y="4078224"/>
            <a:ext cx="502920" cy="658368"/>
          </a:xfrm>
          <a:prstGeom prst="rect">
            <a:avLst/>
          </a:prstGeom>
          <a:solidFill>
            <a:srgbClr val="E8C547"/>
          </a:solidFill>
          <a:ln w="12700" cap="flat" cmpd="sng">
            <a:solidFill>
              <a:srgbClr val="E8C5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12064" y="411480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7"/>
          <p:cNvSpPr/>
          <p:nvPr/>
        </p:nvSpPr>
        <p:spPr>
          <a:xfrm>
            <a:off x="1051560" y="4151376"/>
            <a:ext cx="751636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C547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E8C547"/>
                </a:solidFill>
                <a:latin typeface="Calibri"/>
                <a:ea typeface="Calibri"/>
                <a:cs typeface="Calibri"/>
                <a:sym typeface="Calibri"/>
              </a:rPr>
              <a:t>Higher real rates → real impact — </a:t>
            </a: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Equity repricing, bank stress (SVB), and tighter global financing conditions for all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A9A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5A6A9A"/>
                </a:solidFill>
                <a:latin typeface="Calibri"/>
                <a:ea typeface="Calibri"/>
                <a:cs typeface="Calibri"/>
                <a:sym typeface="Calibri"/>
              </a:rPr>
              <a:t>Seton Hill University  ·  BU 363 01: Money and Capital Markets  ·  May 2026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lang="en-US" sz="32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Questions?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lang="en-US" sz="14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Key References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57200" y="1417320"/>
            <a:ext cx="8229600" cy="4389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94360" y="1435608"/>
            <a:ext cx="7955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Board of Governors of the Federal Reserve System. (2025, Dec. 10). FOMC Statement. federalreserve.gov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57200" y="1892808"/>
            <a:ext cx="8229600" cy="43891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94360" y="1911096"/>
            <a:ext cx="7955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Congressional Research Service. (2024). Monetary Policy and the 2024 Outlook (IN12388). congress.gov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57200" y="2368296"/>
            <a:ext cx="8229600" cy="4389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594360" y="2386584"/>
            <a:ext cx="7955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FRED / Federal Reserve Bank of St. Louis. (n.d.). DGS10 &amp; DFII10 data series. fred.stlouisfed.org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57200" y="2843784"/>
            <a:ext cx="8229600" cy="43891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594360" y="2862072"/>
            <a:ext cx="7955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Min, S., &amp; Kiderlin, S. (2023, Oct. 3). 10-year Treasury yield hits 4.8% — 16-year high. CNBC.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57200" y="3319272"/>
            <a:ext cx="8229600" cy="4389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594360" y="3337560"/>
            <a:ext cx="7955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Saunders, A., Erhemjamts, O., &amp; Cornett, M.M. (2024). Financial Markets and Institutions (9th ed.). McGraw-Hill.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457200" y="3794760"/>
            <a:ext cx="8229600" cy="43891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94360" y="3813048"/>
            <a:ext cx="7955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TreasuryDirect. (n.d.). History of TIPS. U.S. Dept. of the Treasury. treasurydirect.gov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57200" y="4270248"/>
            <a:ext cx="8229600" cy="4389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594360" y="4288536"/>
            <a:ext cx="7955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U.S. Bank. (2026, May 1). Federal Reserve Monetary Policy. usbank.com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985</Words>
  <Application>Microsoft Macintosh PowerPoint</Application>
  <PresentationFormat>On-screen Show (16:9)</PresentationFormat>
  <Paragraphs>106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Zelmore, Tiffany</cp:lastModifiedBy>
  <cp:revision>1</cp:revision>
  <dcterms:created xsi:type="dcterms:W3CDTF">2026-05-05T21:18:30Z</dcterms:created>
  <dcterms:modified xsi:type="dcterms:W3CDTF">2026-05-06T19:07:32Z</dcterms:modified>
</cp:coreProperties>
</file>